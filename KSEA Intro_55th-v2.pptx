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838" r:id="rId1"/>
  </p:sldMasterIdLst>
  <p:notesMasterIdLst>
    <p:notesMasterId r:id="rId13"/>
  </p:notesMasterIdLst>
  <p:handoutMasterIdLst>
    <p:handoutMasterId r:id="rId14"/>
  </p:handoutMasterIdLst>
  <p:sldIdLst>
    <p:sldId id="256" r:id="rId2"/>
    <p:sldId id="419" r:id="rId3"/>
    <p:sldId id="421" r:id="rId4"/>
    <p:sldId id="422" r:id="rId5"/>
    <p:sldId id="424" r:id="rId6"/>
    <p:sldId id="425" r:id="rId7"/>
    <p:sldId id="428" r:id="rId8"/>
    <p:sldId id="429" r:id="rId9"/>
    <p:sldId id="431" r:id="rId10"/>
    <p:sldId id="430" r:id="rId11"/>
    <p:sldId id="433" r:id="rId12"/>
  </p:sldIdLst>
  <p:sldSz cx="9144000" cy="5143500" type="screen16x9"/>
  <p:notesSz cx="7099300" cy="10234613"/>
  <p:defaultTextStyle>
    <a:defPPr>
      <a:defRPr lang="ko-KR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/>
        <a:ea typeface="굴림"/>
        <a:cs typeface="Arial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/>
        <a:ea typeface="굴림"/>
        <a:cs typeface="Arial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/>
        <a:ea typeface="굴림"/>
        <a:cs typeface="Arial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/>
        <a:ea typeface="굴림"/>
        <a:cs typeface="Arial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/>
        <a:ea typeface="굴림"/>
        <a:cs typeface="Arial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/>
        <a:ea typeface="굴림"/>
        <a:cs typeface="Arial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/>
        <a:ea typeface="굴림"/>
        <a:cs typeface="Arial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/>
        <a:ea typeface="굴림"/>
        <a:cs typeface="Arial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/>
        <a:ea typeface="굴림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D98A2F-FB96-4B19-B7A3-8B3B6569F3D0}" v="40" dt="2026-09-24T18:57:03.363"/>
  </p1510:revLst>
</p1510:revInfo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TxStyle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TxStyle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88" autoAdjust="0"/>
    <p:restoredTop sz="94268" autoAdjust="0"/>
  </p:normalViewPr>
  <p:slideViewPr>
    <p:cSldViewPr snapToGrid="0">
      <p:cViewPr varScale="1">
        <p:scale>
          <a:sx n="80" d="100"/>
          <a:sy n="80" d="100"/>
        </p:scale>
        <p:origin x="53" y="331"/>
      </p:cViewPr>
      <p:guideLst>
        <p:guide orient="horz" pos="161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2604" y="-90"/>
      </p:cViewPr>
      <p:guideLst>
        <p:guide orient="horz" pos="3223"/>
        <p:guide pos="223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076363" cy="500771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9212" tIns="49606" rIns="99212" bIns="49606" anchor="t" anchorCtr="0">
            <a:prstTxWarp prst="textNoShape">
              <a:avLst/>
            </a:prstTxWarp>
          </a:bodyPr>
          <a:lstStyle>
            <a:lvl1pPr algn="l" latinLnBrk="1">
              <a:defRPr sz="1300">
                <a:ea typeface="굴림"/>
                <a:cs typeface="+mn-cs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4022937" y="0"/>
            <a:ext cx="3076363" cy="500771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9212" tIns="49606" rIns="99212" bIns="49606" anchor="t" anchorCtr="0">
            <a:prstTxWarp prst="textNoShape">
              <a:avLst/>
            </a:prstTxWarp>
          </a:bodyPr>
          <a:lstStyle>
            <a:lvl1pPr algn="r" latinLnBrk="1">
              <a:defRPr sz="1300">
                <a:ea typeface="굴림"/>
                <a:cs typeface="+mn-cs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712457"/>
            <a:ext cx="3076363" cy="50255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9212" tIns="49606" rIns="99212" bIns="49606" anchor="b" anchorCtr="0">
            <a:prstTxWarp prst="textNoShape">
              <a:avLst/>
            </a:prstTxWarp>
          </a:bodyPr>
          <a:lstStyle>
            <a:lvl1pPr algn="l" latinLnBrk="1">
              <a:defRPr sz="1300">
                <a:ea typeface="굴림"/>
                <a:cs typeface="+mn-cs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4022937" y="9712457"/>
            <a:ext cx="3076363" cy="50255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9212" tIns="49606" rIns="99212" bIns="49606" anchor="b" anchorCtr="0">
            <a:prstTxWarp prst="textNoShape">
              <a:avLst/>
            </a:prstTxWarp>
          </a:bodyPr>
          <a:lstStyle>
            <a:lvl1pPr algn="r" latinLnBrk="1">
              <a:defRPr sz="1300">
                <a:ea typeface="굴림"/>
                <a:cs typeface="+mn-cs"/>
              </a:defRPr>
            </a:lvl1pPr>
          </a:lstStyle>
          <a:p>
            <a:pPr lvl="0">
              <a:defRPr/>
            </a:pPr>
            <a:fld id="{27915162-8504-4E20-84F8-669EA0A2A106}" type="slidenum">
              <a:rPr lang="en-US" altLang="ko-KR"/>
              <a:pPr lvl="0"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076363" cy="511464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9212" tIns="49606" rIns="99212" bIns="49606" anchor="t" anchorCtr="0">
            <a:prstTxWarp prst="textNoShape">
              <a:avLst/>
            </a:prstTxWarp>
          </a:bodyPr>
          <a:lstStyle>
            <a:lvl1pPr algn="l" latinLnBrk="1">
              <a:defRPr sz="1300" b="0">
                <a:latin typeface="굴림"/>
                <a:ea typeface="굴림"/>
                <a:cs typeface="+mn-cs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4021294" y="0"/>
            <a:ext cx="3076363" cy="511464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9212" tIns="49606" rIns="99212" bIns="49606" anchor="t" anchorCtr="0">
            <a:prstTxWarp prst="textNoShape">
              <a:avLst/>
            </a:prstTxWarp>
          </a:bodyPr>
          <a:lstStyle>
            <a:lvl1pPr algn="r" latinLnBrk="1">
              <a:defRPr sz="1300" b="0">
                <a:latin typeface="굴림"/>
                <a:ea typeface="굴림"/>
                <a:cs typeface="+mn-cs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141288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709930" y="4861574"/>
            <a:ext cx="5679440" cy="460495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9212" tIns="49606" rIns="99212" bIns="49606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721367"/>
            <a:ext cx="3076363" cy="51146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9212" tIns="49606" rIns="99212" bIns="49606" anchor="b" anchorCtr="0">
            <a:prstTxWarp prst="textNoShape">
              <a:avLst/>
            </a:prstTxWarp>
          </a:bodyPr>
          <a:lstStyle>
            <a:lvl1pPr algn="l" latinLnBrk="1">
              <a:defRPr sz="1300" b="0">
                <a:latin typeface="굴림"/>
                <a:ea typeface="굴림"/>
                <a:cs typeface="+mn-cs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021294" y="9721367"/>
            <a:ext cx="3076363" cy="51146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9212" tIns="49606" rIns="99212" bIns="49606" anchor="b" anchorCtr="0">
            <a:prstTxWarp prst="textNoShape">
              <a:avLst/>
            </a:prstTxWarp>
          </a:bodyPr>
          <a:lstStyle>
            <a:lvl1pPr algn="r" latinLnBrk="1">
              <a:defRPr sz="1300" b="0">
                <a:latin typeface="굴림"/>
                <a:ea typeface="굴림"/>
                <a:cs typeface="+mn-cs"/>
              </a:defRPr>
            </a:lvl1pPr>
          </a:lstStyle>
          <a:p>
            <a:pPr lvl="0">
              <a:defRPr/>
            </a:pPr>
            <a:fld id="{7C1A4678-7169-4649-8369-91A894571ADB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굴림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굴림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굴림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굴림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굴림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>
            <a:spLocks noGrp="1"/>
          </p:cNvSpPr>
          <p:nvPr>
            <p:ph type="body" idx="1"/>
          </p:nvPr>
        </p:nvSpPr>
        <p:spPr>
          <a:xfrm>
            <a:off x="709930" y="4861574"/>
            <a:ext cx="5679440" cy="4604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200" tIns="49600" rIns="99200" bIns="496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" name="Google Shape;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271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20061-2896-86C2-28F2-2E3ED230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913FE-F48C-C664-B79F-C668C9472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5610B-092F-A53B-59E1-A1BDBA637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04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028700"/>
            <a:ext cx="7851648" cy="13716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2421402"/>
            <a:ext cx="7854696" cy="131445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837CA-A035-41CC-B8AF-DD7B7ED7FC20}" type="datetimeFigureOut">
              <a:rPr lang="en-US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9/24/2026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85F98-ACE5-4564-AA34-73D446A8F5EE}" type="slidenum">
              <a:rPr lang="en-US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3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04800" y="4857750"/>
            <a:ext cx="42672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sz="1200" b="0">
                <a:solidFill>
                  <a:srgbClr val="7F7F7F"/>
                </a:solidFill>
                <a:latin typeface="Constantia" pitchFamily="18" charset="0"/>
              </a:rPr>
              <a:t> </a:t>
            </a:r>
            <a:endParaRPr kumimoji="0" lang="en-US" sz="1200" b="0">
              <a:solidFill>
                <a:prstClr val="black"/>
              </a:solidFill>
              <a:latin typeface="Constantia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341B55-77D5-4F74-9A56-04C6D260233A}" type="datetimeFigureOut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9/24/2026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6A0FF-E40F-4C2C-8247-B0A33F5CFF24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302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987552"/>
            <a:ext cx="7772400" cy="1021842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028498"/>
            <a:ext cx="7772400" cy="1132284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AF1AC2-F812-4F51-BFDD-273E057AC0FB}" type="datetimeFigureOut">
              <a:rPr lang="en-US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9/24/2026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71D94-C506-43D2-AF43-8070CA29FFEB}" type="slidenum">
              <a:rPr lang="en-US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845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E1CF6B-9106-472F-9F56-AB5C17CF48F9}" type="datetimeFigureOut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9/24/2026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5C1CC-FEBF-4160-8AC2-525DD8ED67EE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657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436"/>
            <a:ext cx="4040188" cy="494514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394818"/>
            <a:ext cx="4041775" cy="491132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885950"/>
            <a:ext cx="4040188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85950"/>
            <a:ext cx="4041775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D34BD-1735-45E3-AD69-C8DDEBDB0D53}" type="datetimeFigureOut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9/24/2026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719D8-AB9C-4CD4-BAF3-EDB661B1A78B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028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305800" cy="85725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9DAEC0-301B-4C65-B6B4-70ED55E3351B}" type="datetimeFigureOut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9/24/2026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A1B4B-3906-4840-9FB8-3A748C037F3A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216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808D63-52DB-46CF-A5F0-B3540A299A44}" type="datetimeFigureOut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9/24/2026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852940-04F9-4491-B0AE-E52EB7DC1762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20091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5764"/>
            <a:ext cx="2743200" cy="871538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257300"/>
            <a:ext cx="2743200" cy="3429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257300"/>
            <a:ext cx="5111750" cy="3429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568F1-26D1-41DE-B414-A6C4E5CFD11A}" type="datetimeFigureOut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9/24/2026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25A63-4FD3-4E4E-9A92-E2F8F1803772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93293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831056"/>
            <a:ext cx="5257800" cy="30861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 b="0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6" y="4019551"/>
            <a:ext cx="155575" cy="116681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 b="0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4362450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sz="1800" b="0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4664869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sz="1800" b="0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82747"/>
            <a:ext cx="2212848" cy="1186966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21589"/>
            <a:ext cx="2209800" cy="163449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899638"/>
            <a:ext cx="4617720" cy="294894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B7CE8-36B7-48AD-A885-F6559B23570A}" type="datetimeFigureOut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9/24/2026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4767263"/>
            <a:ext cx="609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238B48-DA43-4A20-B855-DCEFA0F0FC1F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26333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912A-42B2-414A-B526-116ECDD4BE46}" type="datetimeFigureOut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9/24/2026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E5B8A-189B-46FC-B5B4-122FE72691B5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621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85801"/>
            <a:ext cx="2057400" cy="3908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1"/>
            <a:ext cx="6019800" cy="3908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3AFD5D-86F3-4986-A586-07EEFEC1B42E}" type="datetimeFigureOut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9/24/2026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BEECD7-A9DD-4334-89AE-5288D36DBF2B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31072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8500872" cy="3543300"/>
          </a:xfrm>
        </p:spPr>
        <p:txBody>
          <a:bodyPr/>
          <a:lstStyle>
            <a:lvl1pPr>
              <a:defRPr sz="2800"/>
            </a:lvl1pPr>
            <a:lvl2pPr>
              <a:defRPr sz="2200"/>
            </a:lvl2pPr>
            <a:lvl3pPr>
              <a:buSzPct val="85000"/>
              <a:buFont typeface="Wingdings 2" pitchFamily="18" charset="2"/>
              <a:buChar char=""/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534400" y="4812507"/>
            <a:ext cx="609600" cy="33099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349F9-77FF-40E4-8769-5A665EC8763F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305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3"/>
          <p:cNvSpPr>
            <a:spLocks noChangeShapeType="1"/>
          </p:cNvSpPr>
          <p:nvPr/>
        </p:nvSpPr>
        <p:spPr bwMode="auto">
          <a:xfrm flipV="1">
            <a:off x="4572000" y="1128712"/>
            <a:ext cx="0" cy="3328988"/>
          </a:xfrm>
          <a:prstGeom prst="line">
            <a:avLst/>
          </a:prstGeom>
          <a:noFill/>
          <a:ln w="15875" algn="ctr">
            <a:solidFill>
              <a:srgbClr val="2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kumimoji="0" lang="en-US" sz="1800" b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71450"/>
            <a:ext cx="8531352" cy="5715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4800" y="1143000"/>
            <a:ext cx="4114800" cy="3543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724400" y="1117854"/>
            <a:ext cx="4114800" cy="351129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534400" y="4812507"/>
            <a:ext cx="609600" cy="33099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F710C-E0C8-4604-9DD1-B35635E36E35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592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534400" y="4812507"/>
            <a:ext cx="609600" cy="33099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026352-5269-4FA5-8AE4-C085A00A4FAD}" type="slidenum">
              <a:rPr lang="en-US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53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5953"/>
            <a:ext cx="9163050" cy="78105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sz="1800" b="0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5953"/>
            <a:ext cx="4762500" cy="4786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sz="1800" b="0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528638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51373"/>
            <a:ext cx="8229600" cy="3292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130492A0-DB00-48A3-9ED1-EEAF0B943DA0}" type="datetimeFigureOut">
              <a:rPr lang="en-US" b="0">
                <a:solidFill>
                  <a:srgbClr val="04617B">
                    <a:shade val="90000"/>
                  </a:srgbClr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9/24/2026</a:t>
            </a:fld>
            <a:endParaRPr lang="en-US" b="0">
              <a:solidFill>
                <a:srgbClr val="04617B">
                  <a:shade val="9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 b="0">
              <a:solidFill>
                <a:srgbClr val="04617B">
                  <a:shade val="9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1BF2157D-8E04-4F1D-A9E5-8F70167EA777}" type="slidenum">
              <a:rPr lang="en-US" b="0">
                <a:solidFill>
                  <a:srgbClr val="04617B">
                    <a:shade val="90000"/>
                  </a:srgbClr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‹#›</a:t>
            </a:fld>
            <a:endParaRPr lang="en-US" b="0" dirty="0">
              <a:solidFill>
                <a:srgbClr val="04617B">
                  <a:shade val="9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152400"/>
            <a:ext cx="9180513" cy="485775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kumimoji="0" lang="en-US" sz="1800" b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kumimoji="0" lang="en-US" sz="1800" b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9804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emf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10" Type="http://schemas.openxmlformats.org/officeDocument/2006/relationships/image" Target="../media/image27.jpeg"/><Relationship Id="rId4" Type="http://schemas.openxmlformats.org/officeDocument/2006/relationships/image" Target="../media/image21.jpeg"/><Relationship Id="rId9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10" Type="http://schemas.openxmlformats.org/officeDocument/2006/relationships/image" Target="../media/image36.jpe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13" Type="http://schemas.openxmlformats.org/officeDocument/2006/relationships/image" Target="../media/image45.jpeg"/><Relationship Id="rId3" Type="http://schemas.openxmlformats.org/officeDocument/2006/relationships/hyperlink" Target="http://www.ksea.org/" TargetMode="External"/><Relationship Id="rId7" Type="http://schemas.openxmlformats.org/officeDocument/2006/relationships/image" Target="../media/image39.jpeg"/><Relationship Id="rId12" Type="http://schemas.openxmlformats.org/officeDocument/2006/relationships/image" Target="../media/image4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acebook.com/KSEA.HQ/" TargetMode="External"/><Relationship Id="rId11" Type="http://schemas.openxmlformats.org/officeDocument/2006/relationships/image" Target="../media/image43.jpeg"/><Relationship Id="rId5" Type="http://schemas.openxmlformats.org/officeDocument/2006/relationships/hyperlink" Target="https://www.youtube.com/@ksea_official" TargetMode="External"/><Relationship Id="rId10" Type="http://schemas.openxmlformats.org/officeDocument/2006/relationships/image" Target="../media/image42.jpeg"/><Relationship Id="rId4" Type="http://schemas.openxmlformats.org/officeDocument/2006/relationships/hyperlink" Target="https://www.linkedin.com/company/ksea/" TargetMode="External"/><Relationship Id="rId9" Type="http://schemas.openxmlformats.org/officeDocument/2006/relationships/image" Target="../media/image41.jpeg"/><Relationship Id="rId14" Type="http://schemas.openxmlformats.org/officeDocument/2006/relationships/image" Target="../media/image4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>
            <a:spLocks noGrp="1"/>
          </p:cNvSpPr>
          <p:nvPr>
            <p:ph type="ctrTitle"/>
          </p:nvPr>
        </p:nvSpPr>
        <p:spPr>
          <a:xfrm>
            <a:off x="1125673" y="3039967"/>
            <a:ext cx="6892650" cy="803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13706" bIns="0" numCol="1" anchor="b" anchorCtr="0" compatLnSpc="1">
            <a:prstTxWarp prst="textNoShape">
              <a:avLst/>
            </a:prstTxWarp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algn="ctr">
              <a:buClr>
                <a:srgbClr val="6FB7D7"/>
              </a:buClr>
              <a:buSzPts val="2880"/>
            </a:pPr>
            <a:br>
              <a:rPr lang="en-US" sz="2310" dirty="0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rPr>
            </a:br>
            <a:r>
              <a:rPr lang="en-US" sz="2310" dirty="0" err="1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rPr>
              <a:t>재미한인과학기술자협회</a:t>
            </a:r>
            <a:br>
              <a:rPr lang="en-US" sz="2310" dirty="0">
                <a:solidFill>
                  <a:schemeClr val="lt1"/>
                </a:solidFill>
              </a:rPr>
            </a:br>
            <a:r>
              <a:rPr lang="en-US" sz="2310" dirty="0">
                <a:solidFill>
                  <a:schemeClr val="lt1"/>
                </a:solidFill>
              </a:rPr>
              <a:t>Korean-American Scientists and Engineers Association</a:t>
            </a:r>
            <a:br>
              <a:rPr lang="en-US" sz="2310" dirty="0">
                <a:solidFill>
                  <a:schemeClr val="lt1"/>
                </a:solidFill>
              </a:rPr>
            </a:br>
            <a:r>
              <a:rPr lang="en-US" sz="2310" dirty="0">
                <a:solidFill>
                  <a:schemeClr val="lt1"/>
                </a:solidFill>
              </a:rPr>
              <a:t>(KSEA)</a:t>
            </a:r>
            <a:br>
              <a:rPr lang="en-US" sz="2310" dirty="0">
                <a:solidFill>
                  <a:schemeClr val="lt1"/>
                </a:solidFill>
              </a:rPr>
            </a:br>
            <a:br>
              <a:rPr lang="en-US" sz="2310" dirty="0">
                <a:solidFill>
                  <a:schemeClr val="lt1"/>
                </a:solidFill>
              </a:rPr>
            </a:br>
            <a:r>
              <a:rPr lang="en-US" sz="2310" dirty="0">
                <a:solidFill>
                  <a:schemeClr val="lt1"/>
                </a:solidFill>
              </a:rPr>
              <a:t>2026. 9</a:t>
            </a:r>
            <a:endParaRPr sz="2310" dirty="0">
              <a:solidFill>
                <a:schemeClr val="lt1"/>
              </a:solidFill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590185" y="2846732"/>
            <a:ext cx="5762025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SzPts val="3200"/>
            </a:pPr>
            <a:endParaRPr dirty="0">
              <a:solidFill>
                <a:schemeClr val="lt1"/>
              </a:solidFill>
            </a:endParaRPr>
          </a:p>
          <a:p>
            <a:pPr>
              <a:buSzPts val="2400"/>
            </a:pP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39" name="Google Shape;39;p1" descr="KSEA CIP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79083" y="627172"/>
            <a:ext cx="1185831" cy="115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403480-2F87-6A82-0E84-1019895E9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505" y="1182774"/>
            <a:ext cx="5033838" cy="3761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latinLnBrk="1">
              <a:spcBef>
                <a:spcPct val="10000"/>
              </a:spcBef>
              <a:buClr>
                <a:schemeClr val="tx1"/>
              </a:buClr>
              <a:buFont typeface="System Font Regular"/>
              <a:buChar char="●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501(c)(3) non-profit organization</a:t>
            </a:r>
          </a:p>
          <a:p>
            <a:pPr marL="342900" indent="-342900" latinLnBrk="1">
              <a:spcBef>
                <a:spcPct val="10000"/>
              </a:spcBef>
              <a:buClr>
                <a:schemeClr val="tx1"/>
              </a:buClr>
              <a:buFont typeface="System Font Regular"/>
              <a:buChar char="●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1952 Gallows Rd, Suite 300, Vienna, VA</a:t>
            </a:r>
          </a:p>
          <a:p>
            <a:pPr marL="342900" indent="-342900" latinLnBrk="1">
              <a:spcBef>
                <a:spcPct val="10000"/>
              </a:spcBef>
              <a:buClr>
                <a:schemeClr val="tx1"/>
              </a:buClr>
              <a:buFont typeface="System Font Regular"/>
              <a:buChar char="●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Established on </a:t>
            </a:r>
            <a:r>
              <a:rPr lang="en-US" altLang="ko-KR" sz="1600" dirty="0">
                <a:solidFill>
                  <a:srgbClr val="FFFD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December 11, 1971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in Washington DC </a:t>
            </a:r>
          </a:p>
          <a:p>
            <a:pPr marL="342900" indent="-342900" eaLnBrk="0" hangingPunct="0">
              <a:spcBef>
                <a:spcPct val="10000"/>
              </a:spcBef>
              <a:buClr>
                <a:schemeClr val="tx1"/>
              </a:buClr>
              <a:buFont typeface="System Font Regular"/>
              <a:buChar char="●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Contributed tremendously for the US-ROK collaboration in science and technologies last </a:t>
            </a:r>
            <a:r>
              <a:rPr lang="en-US" altLang="ko-KR" sz="1600" dirty="0">
                <a:solidFill>
                  <a:srgbClr val="FFFD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55 years</a:t>
            </a:r>
          </a:p>
          <a:p>
            <a:pPr marL="342900" indent="-342900" eaLnBrk="0" hangingPunct="0">
              <a:spcBef>
                <a:spcPct val="10000"/>
              </a:spcBef>
              <a:buClr>
                <a:schemeClr val="tx1"/>
              </a:buClr>
              <a:buFont typeface="System Font Regular"/>
              <a:buChar char="●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KSEA by Numbers</a:t>
            </a:r>
          </a:p>
          <a:p>
            <a:pPr marL="685800" lvl="1" indent="-342900" eaLnBrk="0" hangingPunct="0">
              <a:spcBef>
                <a:spcPct val="10000"/>
              </a:spcBef>
              <a:buClr>
                <a:schemeClr val="tx1"/>
              </a:buClr>
              <a:buFont typeface="Wingdings" pitchFamily="2" charset="2"/>
              <a:buChar char="ü"/>
              <a:tabLst>
                <a:tab pos="679450" algn="l"/>
              </a:tabLst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8,000+ paid members </a:t>
            </a:r>
          </a:p>
          <a:p>
            <a:pPr marL="685800" lvl="1" indent="-342900" eaLnBrk="0" hangingPunct="0">
              <a:spcBef>
                <a:spcPct val="10000"/>
              </a:spcBef>
              <a:buClr>
                <a:schemeClr val="tx1"/>
              </a:buClr>
              <a:buFont typeface="Wingdings" pitchFamily="2" charset="2"/>
              <a:buChar char="ü"/>
              <a:tabLst>
                <a:tab pos="679450" algn="l"/>
              </a:tabLst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70+ chapters/branches across the US</a:t>
            </a:r>
          </a:p>
          <a:p>
            <a:pPr marL="685800" lvl="1" indent="-342900" eaLnBrk="0" hangingPunct="0">
              <a:spcBef>
                <a:spcPct val="10000"/>
              </a:spcBef>
              <a:buClr>
                <a:schemeClr val="tx1"/>
              </a:buClr>
              <a:buFont typeface="Wingdings" pitchFamily="2" charset="2"/>
              <a:buChar char="ü"/>
              <a:tabLst>
                <a:tab pos="679450" algn="l"/>
              </a:tabLst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31 student/campus chapters</a:t>
            </a:r>
          </a:p>
          <a:p>
            <a:pPr marL="685800" lvl="1" indent="-342900" eaLnBrk="0" hangingPunct="0">
              <a:spcBef>
                <a:spcPct val="10000"/>
              </a:spcBef>
              <a:buClr>
                <a:schemeClr val="tx1"/>
              </a:buClr>
              <a:buFont typeface="Wingdings" pitchFamily="2" charset="2"/>
              <a:buChar char="ü"/>
              <a:tabLst>
                <a:tab pos="679450" algn="l"/>
              </a:tabLst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16 technical groups for all science and engineering</a:t>
            </a:r>
          </a:p>
          <a:p>
            <a:pPr marL="685800" lvl="1" indent="-342900" eaLnBrk="0" hangingPunct="0">
              <a:spcBef>
                <a:spcPct val="10000"/>
              </a:spcBef>
              <a:buClr>
                <a:schemeClr val="tx1"/>
              </a:buClr>
              <a:buFont typeface="Wingdings" pitchFamily="2" charset="2"/>
              <a:buChar char="ü"/>
              <a:tabLst>
                <a:tab pos="679450" algn="l"/>
              </a:tabLst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37 affiliated professional Societies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2923CA-2EE0-B727-A839-376D26C10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05" y="431978"/>
            <a:ext cx="8250990" cy="614946"/>
          </a:xfrm>
          <a:ln>
            <a:miter lim="800000"/>
            <a:headEnd/>
            <a:tailEnd/>
          </a:ln>
        </p:spPr>
        <p:txBody>
          <a:bodyPr anchor="ctr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4000" b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KSEA: At Glance</a:t>
            </a:r>
          </a:p>
        </p:txBody>
      </p:sp>
      <p:pic>
        <p:nvPicPr>
          <p:cNvPr id="12" name="Picture 11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605AB2B2-26D6-2F96-977B-CC3C84CBE6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41224" y="1323067"/>
            <a:ext cx="3201646" cy="13396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 descr="A building with a sign on the top&#10;&#10;AI-generated content may be incorrect.">
            <a:extLst>
              <a:ext uri="{FF2B5EF4-FFF2-40B4-BE49-F238E27FC236}">
                <a16:creationId xmlns:a16="http://schemas.microsoft.com/office/drawing/2014/main" id="{187A506D-7E68-C04D-D0FF-610D5526003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5108" y="2571750"/>
            <a:ext cx="3543438" cy="2372054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3669151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A2923CA-2EE0-B727-A839-376D26C10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05" y="534738"/>
            <a:ext cx="8250990" cy="588210"/>
          </a:xfrm>
          <a:ln>
            <a:miter lim="800000"/>
            <a:headEnd/>
            <a:tailEnd/>
          </a:ln>
        </p:spPr>
        <p:txBody>
          <a:bodyPr anchor="ctr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4000" b="1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KSEA: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E8CB-6D22-0489-2E86-BB4047C7470B}"/>
              </a:ext>
            </a:extLst>
          </p:cNvPr>
          <p:cNvSpPr txBox="1">
            <a:spLocks/>
          </p:cNvSpPr>
          <p:nvPr/>
        </p:nvSpPr>
        <p:spPr bwMode="auto">
          <a:xfrm>
            <a:off x="491178" y="1431080"/>
            <a:ext cx="8250989" cy="1579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18288" bIns="45720" numCol="1" anchor="t" anchorCtr="0" compatLnSpc="1">
            <a:prstTxWarp prst="textNoShape">
              <a:avLst/>
            </a:prstTxWarp>
          </a:bodyPr>
          <a:lstStyle>
            <a:lvl1pPr marL="0" marR="4572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eaLnBrk="1" hangingPunct="1">
              <a:buFont typeface="Arial" panose="020B0604020202020204" pitchFamily="34" charset="0"/>
              <a:buChar char="•"/>
            </a:pPr>
            <a:r>
              <a:rPr kumimoji="0" lang="en-US" sz="20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Excel as a leading Korean-American scientific, engineering, and industrial organization</a:t>
            </a:r>
          </a:p>
          <a:p>
            <a:pPr marL="342900" indent="-342900" algn="l" eaLnBrk="1" hangingPunct="1">
              <a:buFont typeface="Arial" panose="020B0604020202020204" pitchFamily="34" charset="0"/>
              <a:buChar char="•"/>
            </a:pPr>
            <a:r>
              <a:rPr kumimoji="0" lang="en-US" sz="20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Contribute to the social welfare and industrial development in the U.S. and Korea by promoting science and engineering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3643CC-88EE-4220-526F-DBB0940DE6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09905" y="3318826"/>
            <a:ext cx="1186903" cy="13850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E96C5B-BAB6-B433-21E7-22FD4D1AF94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5220" y="3318826"/>
            <a:ext cx="2076947" cy="13850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619DCE-A146-95C5-14E3-6F80E9236D5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" t="36807" r="673" b="20375"/>
          <a:stretch>
            <a:fillRect/>
          </a:stretch>
        </p:blipFill>
        <p:spPr>
          <a:xfrm>
            <a:off x="653070" y="3393583"/>
            <a:ext cx="4559257" cy="1310308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88399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A2923CA-2EE0-B727-A839-376D26C10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05" y="534738"/>
            <a:ext cx="8250990" cy="588210"/>
          </a:xfrm>
          <a:ln>
            <a:miter lim="800000"/>
            <a:headEnd/>
            <a:tailEnd/>
          </a:ln>
        </p:spPr>
        <p:txBody>
          <a:bodyPr anchor="ctr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4000" b="1" dirty="0">
                <a:solidFill>
                  <a:schemeClr val="tx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KSEA: 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E8CB-6D22-0489-2E86-BB4047C7470B}"/>
              </a:ext>
            </a:extLst>
          </p:cNvPr>
          <p:cNvSpPr txBox="1">
            <a:spLocks/>
          </p:cNvSpPr>
          <p:nvPr/>
        </p:nvSpPr>
        <p:spPr bwMode="auto">
          <a:xfrm>
            <a:off x="446505" y="1281811"/>
            <a:ext cx="8200189" cy="2313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18288" bIns="45720" numCol="1" anchor="t" anchorCtr="0" compatLnSpc="1">
            <a:prstTxWarp prst="textNoShape">
              <a:avLst/>
            </a:prstTxWarp>
          </a:bodyPr>
          <a:lstStyle>
            <a:lvl1pPr marL="0" marR="4572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kumimoji="0" lang="en-US" sz="16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Promote science, technology, and entrepreneurship for the general welfare of society</a:t>
            </a:r>
          </a:p>
          <a:p>
            <a:pPr marL="285750" indent="-285750" algn="l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kumimoji="0" lang="en-US" sz="16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Enhance the networking and collaboration among Korean-American professionals engaged in science, engineering, and related fields</a:t>
            </a:r>
          </a:p>
          <a:p>
            <a:pPr marL="285750" indent="-285750" algn="l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kumimoji="0" lang="en-US" sz="16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Foster international cooperation especially between the United States and Korea</a:t>
            </a:r>
          </a:p>
          <a:p>
            <a:pPr marL="285750" indent="-285750" algn="l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kumimoji="0" lang="en-US" sz="16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Cultivate Korean-American scientists and engineers to reach their full career potential</a:t>
            </a:r>
          </a:p>
          <a:p>
            <a:pPr marL="285750" indent="-285750" algn="l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kumimoji="0" lang="en-US" sz="16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Serve the Korean-American community</a:t>
            </a:r>
          </a:p>
          <a:p>
            <a:pPr marL="285750" indent="-285750" algn="l" eaLnBrk="1" hangingPunct="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kumimoji="0" lang="en-US" sz="16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  <p:pic>
        <p:nvPicPr>
          <p:cNvPr id="7" name="Picture 6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A5F40E86-A267-4A93-8625-F928F7FDF6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8094" y="3594882"/>
            <a:ext cx="2871015" cy="12025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98DACE-457C-01A6-3BA3-EBC60B06FF8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159"/>
          <a:stretch/>
        </p:blipFill>
        <p:spPr>
          <a:xfrm>
            <a:off x="446505" y="3628223"/>
            <a:ext cx="1982522" cy="12027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551553-7803-DA0A-7811-D7643E20CB7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7" t="34178" r="3841" b="16119"/>
          <a:stretch>
            <a:fillRect/>
          </a:stretch>
        </p:blipFill>
        <p:spPr>
          <a:xfrm>
            <a:off x="2365991" y="3646260"/>
            <a:ext cx="3232103" cy="1135527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384067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A2923CA-2EE0-B727-A839-376D26C10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05" y="534737"/>
            <a:ext cx="8250990" cy="824509"/>
          </a:xfrm>
          <a:ln>
            <a:miter lim="800000"/>
            <a:headEnd/>
            <a:tailEnd/>
          </a:ln>
        </p:spPr>
        <p:txBody>
          <a:bodyPr anchor="ctr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4000" b="1" dirty="0">
                <a:solidFill>
                  <a:schemeClr val="tx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KSEA: Members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800" b="1" dirty="0">
                <a:solidFill>
                  <a:schemeClr val="tx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30,000 login and 8,000 active members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408CBF-8106-6EE9-B14E-2A1CC1C2F7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44" t="3379" r="33698" b="25472"/>
          <a:stretch/>
        </p:blipFill>
        <p:spPr>
          <a:xfrm>
            <a:off x="495933" y="1623200"/>
            <a:ext cx="3734358" cy="223039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8EA049-DF3D-568B-ED2A-57F9018B6F76}"/>
              </a:ext>
            </a:extLst>
          </p:cNvPr>
          <p:cNvSpPr txBox="1"/>
          <p:nvPr/>
        </p:nvSpPr>
        <p:spPr>
          <a:xfrm>
            <a:off x="446505" y="4117550"/>
            <a:ext cx="8201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FD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Highly educated and trained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C7B60C-3BD8-3451-1793-579F80385C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96" t="2635" r="5514" b="10212"/>
          <a:stretch/>
        </p:blipFill>
        <p:spPr>
          <a:xfrm>
            <a:off x="4444366" y="1624470"/>
            <a:ext cx="4203701" cy="223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292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A2923CA-2EE0-B727-A839-376D26C10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595" y="590102"/>
            <a:ext cx="8250990" cy="588210"/>
          </a:xfrm>
          <a:ln>
            <a:miter lim="800000"/>
            <a:headEnd/>
            <a:tailEnd/>
          </a:ln>
        </p:spPr>
        <p:txBody>
          <a:bodyPr anchor="ctr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4000" b="1" dirty="0">
                <a:solidFill>
                  <a:schemeClr val="tx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For The Members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F8C2B8-3F4C-E57D-3B25-DE15F90A5611}"/>
              </a:ext>
            </a:extLst>
          </p:cNvPr>
          <p:cNvSpPr txBox="1">
            <a:spLocks/>
          </p:cNvSpPr>
          <p:nvPr/>
        </p:nvSpPr>
        <p:spPr bwMode="auto">
          <a:xfrm>
            <a:off x="3443705" y="1261320"/>
            <a:ext cx="5330902" cy="3292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18288" bIns="45720" numCol="1" anchor="t" anchorCtr="0" compatLnSpc="1">
            <a:prstTxWarp prst="textNoShape">
              <a:avLst/>
            </a:prstTxWarp>
          </a:bodyPr>
          <a:lstStyle>
            <a:lvl1pPr marL="0" marR="4572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buClr>
                <a:schemeClr val="accent1"/>
              </a:buClr>
            </a:pPr>
            <a:r>
              <a:rPr kumimoji="0" lang="en-US" altLang="en-US" sz="1800" dirty="0">
                <a:latin typeface="Arial"/>
                <a:ea typeface="MS PGothic" pitchFamily="34" charset="-128"/>
                <a:cs typeface="Arial"/>
              </a:rPr>
              <a:t>Professional and leadership development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</a:pPr>
            <a:endParaRPr kumimoji="0" lang="en-US" altLang="en-US" sz="1800" dirty="0">
              <a:latin typeface="Arial"/>
              <a:ea typeface="MS PGothic" pitchFamily="34" charset="-128"/>
              <a:cs typeface="Arial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</a:pPr>
            <a:r>
              <a:rPr kumimoji="0" lang="en-US" altLang="en-US" sz="1800" dirty="0">
                <a:latin typeface="Arial"/>
                <a:ea typeface="MS PGothic" pitchFamily="34" charset="-128"/>
                <a:cs typeface="Arial"/>
              </a:rPr>
              <a:t>Scientific</a:t>
            </a:r>
            <a:r>
              <a:rPr kumimoji="0" lang="en-US" altLang="ko-KR" sz="1800" dirty="0">
                <a:latin typeface="Arial"/>
                <a:ea typeface="MS PGothic" pitchFamily="34" charset="-128"/>
                <a:cs typeface="Arial"/>
              </a:rPr>
              <a:t>/</a:t>
            </a:r>
            <a:r>
              <a:rPr kumimoji="0" lang="en-US" altLang="en-US" sz="1800" dirty="0">
                <a:latin typeface="Arial"/>
                <a:ea typeface="MS PGothic" pitchFamily="34" charset="-128"/>
                <a:cs typeface="Arial"/>
              </a:rPr>
              <a:t>technical education and training 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</a:pPr>
            <a:endParaRPr kumimoji="0" lang="en-US" altLang="en-US" sz="1800" dirty="0">
              <a:latin typeface="Arial"/>
              <a:ea typeface="MS PGothic" pitchFamily="34" charset="-128"/>
              <a:cs typeface="Arial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</a:pPr>
            <a:r>
              <a:rPr kumimoji="0" lang="en-US" altLang="en-US" sz="1800" dirty="0">
                <a:latin typeface="Arial"/>
                <a:ea typeface="MS PGothic" pitchFamily="34" charset="-128"/>
                <a:cs typeface="Arial"/>
              </a:rPr>
              <a:t>Networking at global, national and local events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</a:pPr>
            <a:endParaRPr kumimoji="0" lang="en-US" altLang="en-US" sz="1800" dirty="0">
              <a:latin typeface="Arial"/>
              <a:ea typeface="MS PGothic" pitchFamily="34" charset="-128"/>
              <a:cs typeface="Arial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</a:pPr>
            <a:r>
              <a:rPr kumimoji="0" lang="en-US" altLang="en-US" sz="1800" dirty="0">
                <a:latin typeface="Arial"/>
                <a:ea typeface="MS PGothic" pitchFamily="34" charset="-128"/>
                <a:cs typeface="Arial"/>
              </a:rPr>
              <a:t>Professional opportunities in the U.S. and ROK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</a:pPr>
            <a:endParaRPr kumimoji="0" lang="en-US" altLang="en-US" sz="1800" dirty="0">
              <a:latin typeface="Arial"/>
              <a:ea typeface="MS PGothic" pitchFamily="34" charset="-128"/>
              <a:cs typeface="Arial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</a:pPr>
            <a:r>
              <a:rPr kumimoji="0" lang="en-US" altLang="en-US" sz="1800" dirty="0">
                <a:latin typeface="Arial"/>
                <a:ea typeface="MS PGothic" pitchFamily="34" charset="-128"/>
                <a:cs typeface="Arial"/>
              </a:rPr>
              <a:t>Awards, scholarships and start-up investments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</a:pPr>
            <a:endParaRPr kumimoji="0" lang="en-US" altLang="en-US" sz="1800" dirty="0">
              <a:latin typeface="Arial"/>
              <a:ea typeface="MS PGothic" pitchFamily="34" charset="-128"/>
              <a:cs typeface="Arial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</a:pPr>
            <a:r>
              <a:rPr kumimoji="0" lang="en-US" altLang="en-US" sz="1800" dirty="0">
                <a:latin typeface="Arial"/>
                <a:ea typeface="MS PGothic" pitchFamily="34" charset="-128"/>
                <a:cs typeface="Arial"/>
              </a:rPr>
              <a:t>Research grants and collaborative links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</a:pPr>
            <a:endParaRPr kumimoji="0" lang="en-US" altLang="en-US" sz="1800" dirty="0">
              <a:latin typeface="Arial"/>
              <a:ea typeface="MS PGothic" pitchFamily="34" charset="-128"/>
              <a:cs typeface="Arial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</a:pPr>
            <a:r>
              <a:rPr kumimoji="0" lang="en-US" altLang="en-US" sz="1800" dirty="0">
                <a:latin typeface="Arial"/>
                <a:ea typeface="MS PGothic" pitchFamily="34" charset="-128"/>
                <a:cs typeface="Arial"/>
              </a:rPr>
              <a:t>Seniors and next-generation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906138-9840-EBFB-A3F7-3357FBA4EA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9194" y="2236523"/>
            <a:ext cx="2017314" cy="8386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4F9486-E90A-157A-ED7D-DDEF166109D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6505" y="4032428"/>
            <a:ext cx="2997200" cy="8609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290259-C361-3A86-97F9-D14D00CF4C8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278" t="18154" r="17616" b="39817"/>
          <a:stretch>
            <a:fillRect/>
          </a:stretch>
        </p:blipFill>
        <p:spPr>
          <a:xfrm>
            <a:off x="2472455" y="2259388"/>
            <a:ext cx="929675" cy="76496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BCBFB3-6D5F-1400-E240-5DC410E3E05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t="14065" r="21" b="9967"/>
          <a:stretch>
            <a:fillRect/>
          </a:stretch>
        </p:blipFill>
        <p:spPr>
          <a:xfrm>
            <a:off x="1568067" y="1270396"/>
            <a:ext cx="1833375" cy="92871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3633948-637F-7F7B-4D52-482CFDDFFCD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928" t="8388" r="34716" b="39817"/>
          <a:stretch>
            <a:fillRect/>
          </a:stretch>
        </p:blipFill>
        <p:spPr>
          <a:xfrm>
            <a:off x="571026" y="1226010"/>
            <a:ext cx="986825" cy="947243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F71E064-3CCE-402A-2762-976BAE1F5D5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575" r="3156" b="19009"/>
          <a:stretch>
            <a:fillRect/>
          </a:stretch>
        </p:blipFill>
        <p:spPr>
          <a:xfrm>
            <a:off x="549194" y="3130493"/>
            <a:ext cx="2901156" cy="952775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77932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A2923CA-2EE0-B727-A839-376D26C10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05" y="294105"/>
            <a:ext cx="8250990" cy="620295"/>
          </a:xfrm>
          <a:ln>
            <a:miter lim="800000"/>
            <a:headEnd/>
            <a:tailEnd/>
          </a:ln>
        </p:spPr>
        <p:txBody>
          <a:bodyPr anchor="ctr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tx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Conferences, Workshops, Programs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693FA1-C72C-D558-A27F-5D4A4D93C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240" y="937166"/>
            <a:ext cx="3017373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"/>
              </a:rPr>
              <a:t>US-Korea Conference (</a:t>
            </a:r>
            <a:r>
              <a:rPr lang="en-US" altLang="ko-KR" sz="1200" dirty="0">
                <a:solidFill>
                  <a:srgbClr val="FFFD78"/>
                </a:solidFill>
                <a:latin typeface="Arial"/>
              </a:rPr>
              <a:t>UKC</a:t>
            </a:r>
            <a:r>
              <a:rPr lang="en-US" altLang="ko-KR" sz="1200" dirty="0">
                <a:latin typeface="Arial"/>
              </a:rPr>
              <a:t>) on Science, Technology and Entrepreneurship </a:t>
            </a:r>
          </a:p>
          <a:p>
            <a:pPr algn="ctr"/>
            <a:endParaRPr lang="en-US" altLang="ko-KR" sz="1200" dirty="0">
              <a:latin typeface="Arial"/>
            </a:endParaRPr>
          </a:p>
          <a:p>
            <a:pPr algn="ctr"/>
            <a:r>
              <a:rPr lang="en-US" altLang="ko-KR" sz="1200" dirty="0">
                <a:latin typeface="Arial"/>
              </a:rPr>
              <a:t>Scientists and Engineers Early Career Development Workshop (</a:t>
            </a:r>
            <a:r>
              <a:rPr lang="en-US" altLang="ko-KR" sz="1200" dirty="0">
                <a:solidFill>
                  <a:srgbClr val="FFFD78"/>
                </a:solidFill>
                <a:latin typeface="Arial"/>
              </a:rPr>
              <a:t>SEED</a:t>
            </a:r>
            <a:r>
              <a:rPr lang="en-US" altLang="ko-KR" sz="1200" dirty="0">
                <a:latin typeface="Arial"/>
              </a:rPr>
              <a:t>)</a:t>
            </a:r>
          </a:p>
          <a:p>
            <a:pPr algn="ctr"/>
            <a:endParaRPr lang="en-US" altLang="ko-KR" sz="1200" dirty="0">
              <a:latin typeface="Arial"/>
            </a:endParaRPr>
          </a:p>
          <a:p>
            <a:pPr algn="ctr"/>
            <a:r>
              <a:rPr lang="en-US" altLang="ko-KR" sz="1200" dirty="0">
                <a:latin typeface="Arial"/>
              </a:rPr>
              <a:t>Young Generation Technology &amp; Leadership Conferences : “</a:t>
            </a:r>
            <a:r>
              <a:rPr lang="en-US" altLang="ko-KR" sz="1200" dirty="0">
                <a:solidFill>
                  <a:srgbClr val="FFFD78"/>
                </a:solidFill>
                <a:latin typeface="Arial"/>
              </a:rPr>
              <a:t>IMPACTs”</a:t>
            </a:r>
            <a:r>
              <a:rPr lang="en-US" altLang="ko-KR" sz="1200" dirty="0">
                <a:latin typeface="Arial"/>
              </a:rPr>
              <a:t> for young professionals and “</a:t>
            </a:r>
            <a:r>
              <a:rPr lang="en-US" altLang="ko-KR" sz="1200" dirty="0">
                <a:solidFill>
                  <a:srgbClr val="FFFD78"/>
                </a:solidFill>
                <a:latin typeface="Arial"/>
              </a:rPr>
              <a:t>KATALYST” </a:t>
            </a:r>
            <a:r>
              <a:rPr lang="en-US" altLang="ko-KR" sz="1200" dirty="0">
                <a:latin typeface="Arial"/>
              </a:rPr>
              <a:t>for undergraduate students</a:t>
            </a:r>
          </a:p>
          <a:p>
            <a:pPr algn="ctr"/>
            <a:endParaRPr lang="en-US" altLang="ko-KR" sz="1200" dirty="0">
              <a:latin typeface="Arial"/>
            </a:endParaRPr>
          </a:p>
          <a:p>
            <a:pPr algn="ctr"/>
            <a:r>
              <a:rPr lang="en-US" altLang="ko-KR" sz="1200" dirty="0">
                <a:latin typeface="Arial"/>
              </a:rPr>
              <a:t>National Mathematics, Physics and Science Competition (</a:t>
            </a:r>
            <a:r>
              <a:rPr lang="en-US" altLang="ko-KR" sz="1200" dirty="0">
                <a:solidFill>
                  <a:srgbClr val="FFFD78"/>
                </a:solidFill>
                <a:latin typeface="Arial"/>
              </a:rPr>
              <a:t>NMSC</a:t>
            </a:r>
            <a:r>
              <a:rPr lang="en-US" altLang="ko-KR" sz="1200" dirty="0">
                <a:latin typeface="Arial"/>
              </a:rPr>
              <a:t>)</a:t>
            </a:r>
          </a:p>
          <a:p>
            <a:pPr algn="ctr"/>
            <a:endParaRPr lang="en-US" altLang="ko-KR" sz="1200" dirty="0">
              <a:latin typeface="Arial"/>
            </a:endParaRPr>
          </a:p>
          <a:p>
            <a:pPr algn="ctr"/>
            <a:r>
              <a:rPr lang="en-US" altLang="ko-KR" sz="1200" dirty="0">
                <a:latin typeface="Arial"/>
              </a:rPr>
              <a:t>Entrepreneurship Training, Competition and Investment </a:t>
            </a:r>
          </a:p>
          <a:p>
            <a:pPr algn="ctr"/>
            <a:r>
              <a:rPr lang="en-US" altLang="ko-KR" sz="1200" dirty="0">
                <a:latin typeface="Arial"/>
              </a:rPr>
              <a:t>(</a:t>
            </a:r>
            <a:r>
              <a:rPr lang="en-US" altLang="ko-KR" sz="1200" dirty="0">
                <a:solidFill>
                  <a:srgbClr val="FFFD78"/>
                </a:solidFill>
                <a:latin typeface="Arial"/>
              </a:rPr>
              <a:t>IES</a:t>
            </a:r>
            <a:r>
              <a:rPr lang="en-US" altLang="ko-KR" sz="1200" dirty="0">
                <a:latin typeface="Arial"/>
              </a:rPr>
              <a:t>)</a:t>
            </a:r>
          </a:p>
          <a:p>
            <a:pPr algn="ctr"/>
            <a:endParaRPr lang="en-US" altLang="ko-KR" sz="1200" dirty="0">
              <a:latin typeface="Arial"/>
            </a:endParaRPr>
          </a:p>
          <a:p>
            <a:pPr algn="ctr"/>
            <a:r>
              <a:rPr lang="en-US" altLang="ko-KR" sz="1200" dirty="0">
                <a:latin typeface="Arial"/>
              </a:rPr>
              <a:t>Over 150 regional/local and thematic/topical programs annually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37BDD4-8EFC-3407-D081-3626497586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14" r="455" b="18318"/>
          <a:stretch>
            <a:fillRect/>
          </a:stretch>
        </p:blipFill>
        <p:spPr>
          <a:xfrm>
            <a:off x="6207710" y="3729901"/>
            <a:ext cx="2545250" cy="828268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873F911-C64F-CC4E-9EA6-6607CE9BDA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56" t="12196" b="21236"/>
          <a:stretch>
            <a:fillRect/>
          </a:stretch>
        </p:blipFill>
        <p:spPr>
          <a:xfrm>
            <a:off x="1382975" y="1190862"/>
            <a:ext cx="1608780" cy="792461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DCCA296-7D0B-C71F-A845-B597EFC2558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428" t="10892" r="31462" b="38278"/>
          <a:stretch>
            <a:fillRect/>
          </a:stretch>
        </p:blipFill>
        <p:spPr>
          <a:xfrm>
            <a:off x="488791" y="1199709"/>
            <a:ext cx="894184" cy="774768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CA20399-CE3C-F08B-1873-CA85AFF224B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25" t="40603" r="423" b="10611"/>
          <a:stretch>
            <a:fillRect/>
          </a:stretch>
        </p:blipFill>
        <p:spPr>
          <a:xfrm>
            <a:off x="488791" y="2010101"/>
            <a:ext cx="2538890" cy="882313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5FA25F5-72FF-87AB-7B7C-DED9F097E74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8" t="33424" r="3425" b="20480"/>
          <a:stretch>
            <a:fillRect/>
          </a:stretch>
        </p:blipFill>
        <p:spPr>
          <a:xfrm>
            <a:off x="6207710" y="1252303"/>
            <a:ext cx="2489785" cy="79903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DCA34F5-8CE0-599B-0472-4E516ED9E6F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t="28276" r="209" b="39186"/>
          <a:stretch>
            <a:fillRect/>
          </a:stretch>
        </p:blipFill>
        <p:spPr>
          <a:xfrm>
            <a:off x="6177451" y="2093379"/>
            <a:ext cx="2520044" cy="79903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1F649C0-69AD-4F84-EDCC-0DD1E588F0B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5" t="23412" r="8310" b="28889"/>
          <a:stretch>
            <a:fillRect/>
          </a:stretch>
        </p:blipFill>
        <p:spPr>
          <a:xfrm>
            <a:off x="478503" y="2892414"/>
            <a:ext cx="2545250" cy="795521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509F962-9001-20EC-C727-19BD09614BA9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941" r="4724" b="37599"/>
          <a:stretch>
            <a:fillRect/>
          </a:stretch>
        </p:blipFill>
        <p:spPr>
          <a:xfrm>
            <a:off x="6189961" y="2921573"/>
            <a:ext cx="2520044" cy="766362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E810415-369D-4E24-6620-32C37FB631F7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357" t="22590" r="4273" b="33174"/>
          <a:stretch>
            <a:fillRect/>
          </a:stretch>
        </p:blipFill>
        <p:spPr>
          <a:xfrm>
            <a:off x="446504" y="3710701"/>
            <a:ext cx="2610736" cy="891988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919440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A2923CA-2EE0-B727-A839-376D26C10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05" y="294105"/>
            <a:ext cx="8250990" cy="620295"/>
          </a:xfrm>
          <a:ln>
            <a:miter lim="800000"/>
            <a:headEnd/>
            <a:tailEnd/>
          </a:ln>
        </p:spPr>
        <p:txBody>
          <a:bodyPr anchor="ctr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800" b="1" dirty="0">
                <a:solidFill>
                  <a:schemeClr val="tx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Awards, Grants, Scholarships and Publications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C789F7F-219E-5742-1F16-7FEE509677EB}"/>
              </a:ext>
            </a:extLst>
          </p:cNvPr>
          <p:cNvSpPr txBox="1">
            <a:spLocks/>
          </p:cNvSpPr>
          <p:nvPr/>
        </p:nvSpPr>
        <p:spPr bwMode="auto">
          <a:xfrm>
            <a:off x="3071277" y="1072521"/>
            <a:ext cx="3074065" cy="2511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18288" bIns="45720" numCol="1" anchor="t" anchorCtr="0" compatLnSpc="1">
            <a:prstTxWarp prst="textNoShape">
              <a:avLst/>
            </a:prstTxWarp>
          </a:bodyPr>
          <a:lstStyle>
            <a:lvl1pPr marL="0" marR="4572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200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KSEA Awards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2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Scientist, Engineers and Entrepreneur of the Year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kumimoji="0" lang="en-US" altLang="ko-KR" sz="1200" dirty="0">
              <a:solidFill>
                <a:srgbClr val="FFFD78"/>
              </a:solidFill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200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KSEA Young Investigator Grant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2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Recognize those who have demonstrated the outstanding early career as a young investigator in science or technology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2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(2) $10,000 grants</a:t>
            </a:r>
          </a:p>
          <a:p>
            <a:pPr lvl="1" eaLnBrk="1" hangingPunct="1">
              <a:lnSpc>
                <a:spcPct val="90000"/>
              </a:lnSpc>
              <a:defRPr/>
            </a:pPr>
            <a:endParaRPr kumimoji="0" lang="en-US" altLang="ko-KR" sz="12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200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KSEA Student Scholarships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US" altLang="ko-KR" sz="1200" dirty="0">
                <a:latin typeface="Arial"/>
                <a:ea typeface="MS PGothic" pitchFamily="34" charset="-128"/>
                <a:cs typeface="Arial"/>
              </a:rPr>
              <a:t>$1500 for 20 undergraduates and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US" altLang="ko-KR" sz="1200" dirty="0">
                <a:latin typeface="Arial"/>
                <a:ea typeface="MS PGothic" pitchFamily="34" charset="-128"/>
                <a:cs typeface="Arial"/>
              </a:rPr>
              <a:t>$2000 for 20 graduates</a:t>
            </a:r>
            <a:br>
              <a:rPr kumimoji="0" lang="en-US" altLang="ko-KR" sz="12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</a:br>
            <a:endParaRPr kumimoji="0" lang="en-US" altLang="ko-KR" sz="12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200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KSEA Post-Doctoral Fellowship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US" altLang="ko-KR" sz="1200">
                <a:latin typeface="Arial"/>
                <a:ea typeface="MS PGothic" pitchFamily="34" charset="-128"/>
                <a:cs typeface="Arial"/>
              </a:rPr>
              <a:t>$2500 </a:t>
            </a:r>
            <a:r>
              <a:rPr lang="en-US" altLang="ko-KR" sz="1200" dirty="0">
                <a:latin typeface="Arial"/>
                <a:ea typeface="MS PGothic" pitchFamily="34" charset="-128"/>
                <a:cs typeface="Arial"/>
              </a:rPr>
              <a:t>for 5 Post-Doctoral scholars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kumimoji="0" lang="en-US" altLang="ko-KR" sz="1200" dirty="0">
              <a:latin typeface="Arial"/>
              <a:ea typeface="MS PGothic" pitchFamily="34" charset="-128"/>
              <a:cs typeface="Arial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200" dirty="0">
                <a:latin typeface="Arial"/>
                <a:ea typeface="MS PGothic" pitchFamily="34" charset="-128"/>
                <a:cs typeface="Arial"/>
              </a:rPr>
              <a:t>Technical Reports, Conference Proceedings, Quarterly Journal</a:t>
            </a:r>
            <a:br>
              <a:rPr kumimoji="0" lang="en-US" altLang="ko-KR" sz="12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</a:br>
            <a:endParaRPr kumimoji="0" lang="en-US" altLang="ko-KR" sz="12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marL="393700" lvl="1" eaLnBrk="1" hangingPunct="1">
              <a:lnSpc>
                <a:spcPct val="90000"/>
              </a:lnSpc>
              <a:defRPr/>
            </a:pPr>
            <a:r>
              <a:rPr kumimoji="0" lang="en-US" altLang="ko-KR" sz="1200" dirty="0">
                <a:solidFill>
                  <a:srgbClr val="FF0000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			</a:t>
            </a:r>
            <a:r>
              <a:rPr kumimoji="0" lang="en-US" altLang="ko-KR" sz="1200" dirty="0">
                <a:solidFill>
                  <a:prstClr val="black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				</a:t>
            </a:r>
          </a:p>
          <a:p>
            <a:pPr marL="393700" lvl="1" eaLnBrk="1" hangingPunct="1">
              <a:lnSpc>
                <a:spcPct val="90000"/>
              </a:lnSpc>
              <a:defRPr/>
            </a:pPr>
            <a:r>
              <a:rPr kumimoji="0" lang="en-US" altLang="ko-KR" sz="12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		</a:t>
            </a:r>
          </a:p>
        </p:txBody>
      </p:sp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4190DE40-73FD-36DD-1456-E4E784EE592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18908" y="2826958"/>
            <a:ext cx="2743200" cy="9217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6">
            <a:extLst>
              <a:ext uri="{FF2B5EF4-FFF2-40B4-BE49-F238E27FC236}">
                <a16:creationId xmlns:a16="http://schemas.microsoft.com/office/drawing/2014/main" id="{373C8875-9B34-5BF6-B257-FAF33E0941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05846" y="1998393"/>
            <a:ext cx="2592407" cy="82856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58FCA8D-2F9D-D64B-DE8F-E505FCB01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01" y="3759840"/>
            <a:ext cx="2520044" cy="10631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EB3B0D-A313-0FAC-D162-7645E33F829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670" r="5768" b="18220"/>
          <a:stretch>
            <a:fillRect/>
          </a:stretch>
        </p:blipFill>
        <p:spPr>
          <a:xfrm>
            <a:off x="358272" y="1033983"/>
            <a:ext cx="2652502" cy="841033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E6A125-0CCA-973E-97B4-8DBEA11BB32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335" t="26413" r="20298" b="39877"/>
          <a:stretch>
            <a:fillRect/>
          </a:stretch>
        </p:blipFill>
        <p:spPr>
          <a:xfrm>
            <a:off x="6223366" y="2910606"/>
            <a:ext cx="2509938" cy="788479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F16330-8499-1CC1-2FF4-0B6E6955B4E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850" t="25133" r="12213" b="41346"/>
          <a:stretch>
            <a:fillRect/>
          </a:stretch>
        </p:blipFill>
        <p:spPr>
          <a:xfrm>
            <a:off x="358272" y="1946736"/>
            <a:ext cx="2664473" cy="87642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91AC4F-0B9B-A777-871E-8B508A05270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326" t="23787" r="11581" b="36528"/>
          <a:stretch>
            <a:fillRect/>
          </a:stretch>
        </p:blipFill>
        <p:spPr>
          <a:xfrm>
            <a:off x="6247079" y="1114388"/>
            <a:ext cx="2462511" cy="88400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824D07C-03D7-1265-87B8-B6F9AF66FE0C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505" y="3775103"/>
            <a:ext cx="797933" cy="1032619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BC82BF1-C10B-481A-DD73-CF1FA126A3BA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305" t="13020" r="1473" b="33897"/>
          <a:stretch>
            <a:fillRect/>
          </a:stretch>
        </p:blipFill>
        <p:spPr>
          <a:xfrm>
            <a:off x="6223366" y="3748672"/>
            <a:ext cx="2520044" cy="828563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314894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A2923CA-2EE0-B727-A839-376D26C10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05" y="294105"/>
            <a:ext cx="8250990" cy="620295"/>
          </a:xfrm>
          <a:ln>
            <a:miter lim="800000"/>
            <a:headEnd/>
            <a:tailEnd/>
          </a:ln>
        </p:spPr>
        <p:txBody>
          <a:bodyPr anchor="ctr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800" b="1" dirty="0">
                <a:solidFill>
                  <a:schemeClr val="tx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KSEA: Governance and Operation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C789F7F-219E-5742-1F16-7FEE509677EB}"/>
              </a:ext>
            </a:extLst>
          </p:cNvPr>
          <p:cNvSpPr txBox="1">
            <a:spLocks/>
          </p:cNvSpPr>
          <p:nvPr/>
        </p:nvSpPr>
        <p:spPr bwMode="auto">
          <a:xfrm>
            <a:off x="5017639" y="3692720"/>
            <a:ext cx="3679854" cy="1263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18288" bIns="45720" numCol="1" anchor="t" anchorCtr="0" compatLnSpc="1">
            <a:prstTxWarp prst="textNoShape">
              <a:avLst/>
            </a:prstTxWarp>
          </a:bodyPr>
          <a:lstStyle>
            <a:lvl1pPr marL="0" marR="4572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100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Headquarter Staff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Director of Administration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Finance Manager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IT Staff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Admin Associate Staff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kumimoji="0" lang="en-US" altLang="ko-KR" sz="11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B1A3C-3DBF-98BC-EBAA-38A2AFFEBC40}"/>
              </a:ext>
            </a:extLst>
          </p:cNvPr>
          <p:cNvSpPr txBox="1"/>
          <p:nvPr/>
        </p:nvSpPr>
        <p:spPr>
          <a:xfrm>
            <a:off x="328611" y="1015426"/>
            <a:ext cx="44623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400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(Volunteer) 55</a:t>
            </a:r>
            <a:r>
              <a:rPr kumimoji="0" lang="en-US" altLang="ko-KR" sz="1400" baseline="30000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th</a:t>
            </a:r>
            <a:r>
              <a:rPr kumimoji="0" lang="en-US" altLang="ko-KR" sz="1400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Executive and Directors Committee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92928F-C265-1235-5C87-B75B87065A85}"/>
              </a:ext>
            </a:extLst>
          </p:cNvPr>
          <p:cNvSpPr txBox="1"/>
          <p:nvPr/>
        </p:nvSpPr>
        <p:spPr>
          <a:xfrm>
            <a:off x="5017640" y="993878"/>
            <a:ext cx="3679853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400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(Volunteer) Auditors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0F3A04-6998-B954-88AE-00C2B89F2A0B}"/>
              </a:ext>
            </a:extLst>
          </p:cNvPr>
          <p:cNvSpPr txBox="1"/>
          <p:nvPr/>
        </p:nvSpPr>
        <p:spPr>
          <a:xfrm>
            <a:off x="5017640" y="2476011"/>
            <a:ext cx="3679854" cy="1158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100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13 Standing Committees with Volunteer Members: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kumimoji="0" lang="en-US" altLang="ko-KR" sz="11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Contest, Election, Fund Management, History, Honors and Awards, Long Range Planning, Nomination, Rules, Scholarships and Fellowships, Young Generation, Affiliated Professional Society, SME, UKC Steering Committees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85E0BE-9775-14FC-16AE-09F80F4D37D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68" t="22660" r="8355" b="5718"/>
          <a:stretch>
            <a:fillRect/>
          </a:stretch>
        </p:blipFill>
        <p:spPr>
          <a:xfrm>
            <a:off x="555831" y="1667709"/>
            <a:ext cx="4461808" cy="2541773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B8D4B0-D624-0E34-EB2C-055219E3A1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207" t="48139" r="52113" b="21878"/>
          <a:stretch>
            <a:fillRect/>
          </a:stretch>
        </p:blipFill>
        <p:spPr>
          <a:xfrm>
            <a:off x="5859452" y="1338040"/>
            <a:ext cx="1996227" cy="1048425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735438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C789F7F-219E-5742-1F16-7FEE509677EB}"/>
              </a:ext>
            </a:extLst>
          </p:cNvPr>
          <p:cNvSpPr txBox="1">
            <a:spLocks/>
          </p:cNvSpPr>
          <p:nvPr/>
        </p:nvSpPr>
        <p:spPr bwMode="auto">
          <a:xfrm>
            <a:off x="3154178" y="1628604"/>
            <a:ext cx="2680313" cy="2228013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18288" bIns="45720" numCol="1" anchor="t" anchorCtr="0" compatLnSpc="1">
            <a:prstTxWarp prst="textNoShape">
              <a:avLst/>
            </a:prstTxWarp>
          </a:bodyPr>
          <a:lstStyle>
            <a:lvl1pPr marL="0" marR="4572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600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Visit Us at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600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  <a:hlinkClick r:id="rId3"/>
              </a:rPr>
              <a:t>www.ksea.org</a:t>
            </a:r>
            <a:endParaRPr kumimoji="0" lang="en-US" altLang="ko-KR" sz="1600" dirty="0">
              <a:solidFill>
                <a:srgbClr val="FFFD78"/>
              </a:solidFill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kumimoji="0" lang="en-US" altLang="ko-KR" sz="1600" dirty="0">
              <a:solidFill>
                <a:srgbClr val="FFFD78"/>
              </a:solidFill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600" u="sng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Follow Us on </a:t>
            </a:r>
            <a:r>
              <a:rPr kumimoji="0" lang="en-US" altLang="ko-KR" sz="1600" u="sng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  <a:hlinkClick r:id="rId4"/>
              </a:rPr>
              <a:t>LinkedIn</a:t>
            </a:r>
            <a:endParaRPr kumimoji="0" lang="en-US" altLang="ko-KR" sz="1600" u="sng" dirty="0">
              <a:solidFill>
                <a:srgbClr val="FFFD78"/>
              </a:solidFill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kumimoji="0" lang="en-US" altLang="ko-KR" sz="1600" dirty="0">
              <a:solidFill>
                <a:srgbClr val="FFFD78"/>
              </a:solidFill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600" u="sng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Follow US on </a:t>
            </a:r>
            <a:r>
              <a:rPr kumimoji="0" lang="en-US" altLang="ko-KR" sz="1600" u="sng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  <a:hlinkClick r:id="rId5"/>
              </a:rPr>
              <a:t>YouTube</a:t>
            </a:r>
            <a:endParaRPr kumimoji="0" lang="en-US" altLang="ko-KR" sz="1600" u="sng" dirty="0">
              <a:solidFill>
                <a:srgbClr val="FFFD78"/>
              </a:solidFill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kumimoji="0" lang="en-US" altLang="ko-KR" sz="1600" u="sng" dirty="0">
              <a:solidFill>
                <a:srgbClr val="FFFD78"/>
              </a:solidFill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kumimoji="0" lang="en-US" altLang="ko-KR" sz="1600" u="sng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Follow Us on </a:t>
            </a:r>
            <a:r>
              <a:rPr kumimoji="0" lang="en-US" altLang="ko-KR" sz="1600" u="sng" dirty="0">
                <a:solidFill>
                  <a:srgbClr val="FFFD78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  <a:hlinkClick r:id="rId6"/>
              </a:rPr>
              <a:t>Facebook</a:t>
            </a:r>
            <a:endParaRPr kumimoji="0" lang="en-US" altLang="ko-KR" sz="1600" u="sng" dirty="0">
              <a:solidFill>
                <a:srgbClr val="FFFD78"/>
              </a:solidFill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kumimoji="0" lang="en-US" altLang="ko-KR" sz="16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229E687-C2B5-EA95-FAE6-890864538BAE}"/>
              </a:ext>
            </a:extLst>
          </p:cNvPr>
          <p:cNvSpPr txBox="1">
            <a:spLocks/>
          </p:cNvSpPr>
          <p:nvPr/>
        </p:nvSpPr>
        <p:spPr bwMode="auto">
          <a:xfrm>
            <a:off x="442061" y="270304"/>
            <a:ext cx="8274150" cy="928711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18288" bIns="45720" numCol="1" anchor="ctr" anchorCtr="0" compatLnSpc="1">
            <a:prstTxWarp prst="textNoShape">
              <a:avLst/>
            </a:prstTxWarp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>
            <a:lvl1pPr marL="0" marR="4572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kumimoji="0" lang="en-US" sz="3200" b="1" dirty="0">
                <a:solidFill>
                  <a:schemeClr val="tx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Korean American Scientists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kumimoji="0" lang="en-US" sz="3200" b="1" dirty="0">
                <a:solidFill>
                  <a:schemeClr val="tx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and Engineers Association (KSEA)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7BA8654-72FB-BB3F-705C-84ED31099E1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6854" y="3953702"/>
            <a:ext cx="2757322" cy="7721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4925F68-2363-AA53-06AB-430E7AACE53C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0978" y="3189212"/>
            <a:ext cx="2743200" cy="7048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F7DE6C7-E878-6BF0-1559-2D3C978B59D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99129" y="4052698"/>
            <a:ext cx="2743200" cy="6643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5F0608-33D1-D778-DDBE-B3FD18B76B24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42" t="32926" r="20205" b="39781"/>
          <a:stretch>
            <a:fillRect/>
          </a:stretch>
        </p:blipFill>
        <p:spPr>
          <a:xfrm>
            <a:off x="6045085" y="2324360"/>
            <a:ext cx="2651288" cy="864852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641F51-06EC-4DC3-C0D8-9DE9BA2BBD9B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309" r="-267" b="17632"/>
          <a:stretch>
            <a:fillRect/>
          </a:stretch>
        </p:blipFill>
        <p:spPr>
          <a:xfrm>
            <a:off x="491253" y="2231532"/>
            <a:ext cx="2664511" cy="89806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50AA62-9D84-D160-7627-29CC52BB534D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554" t="36307" r="-333" b="21183"/>
          <a:stretch>
            <a:fillRect/>
          </a:stretch>
        </p:blipFill>
        <p:spPr>
          <a:xfrm>
            <a:off x="478031" y="1355578"/>
            <a:ext cx="2631481" cy="875954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88192C-BAF1-CBCC-4701-24373BE3A6AA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73" t="33965" r="685" b="21766"/>
          <a:stretch>
            <a:fillRect/>
          </a:stretch>
        </p:blipFill>
        <p:spPr>
          <a:xfrm>
            <a:off x="6055681" y="1481070"/>
            <a:ext cx="2630096" cy="820829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748F7F-A13C-9846-61CC-4F6F62E1DDAB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25" t="28921" r="756" b="29501"/>
          <a:stretch>
            <a:fillRect/>
          </a:stretch>
        </p:blipFill>
        <p:spPr>
          <a:xfrm>
            <a:off x="6045085" y="3223466"/>
            <a:ext cx="2587867" cy="829232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697286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8CDA-E845-16B3-6501-F1863A13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05BF753-AB3E-4CE1-081E-BED6B424AC11}"/>
              </a:ext>
            </a:extLst>
          </p:cNvPr>
          <p:cNvSpPr txBox="1">
            <a:spLocks/>
          </p:cNvSpPr>
          <p:nvPr/>
        </p:nvSpPr>
        <p:spPr bwMode="auto">
          <a:xfrm>
            <a:off x="3154178" y="1628604"/>
            <a:ext cx="2680313" cy="2228013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18288" bIns="45720" numCol="1" anchor="t" anchorCtr="0" compatLnSpc="1">
            <a:prstTxWarp prst="textNoShape">
              <a:avLst/>
            </a:prstTxWarp>
          </a:bodyPr>
          <a:lstStyle>
            <a:lvl1pPr marL="0" marR="4572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endParaRPr kumimoji="0" lang="en-US" altLang="ko-KR" sz="16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DD5A0A9-1795-DE58-E6CF-B0B1C56FF944}"/>
              </a:ext>
            </a:extLst>
          </p:cNvPr>
          <p:cNvSpPr txBox="1">
            <a:spLocks/>
          </p:cNvSpPr>
          <p:nvPr/>
        </p:nvSpPr>
        <p:spPr bwMode="auto">
          <a:xfrm>
            <a:off x="442061" y="270304"/>
            <a:ext cx="8274150" cy="928711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18288" bIns="45720" numCol="1" anchor="ctr" anchorCtr="0" compatLnSpc="1">
            <a:prstTxWarp prst="textNoShape">
              <a:avLst/>
            </a:prstTxWarp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>
            <a:lvl1pPr marL="0" marR="4572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kumimoji="0" lang="en-US" sz="3200" dirty="0">
                <a:solidFill>
                  <a:schemeClr val="tx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See you at UKC 2027 in Las Vegas !</a:t>
            </a:r>
            <a:endParaRPr kumimoji="0" lang="en-US" sz="3200" b="1" dirty="0">
              <a:solidFill>
                <a:schemeClr val="tx2"/>
              </a:solidFill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E17EDB-BD7A-4C7F-AD34-0654FF4CF3C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466" t="21659" r="13423" b="12127"/>
          <a:stretch>
            <a:fillRect/>
          </a:stretch>
        </p:blipFill>
        <p:spPr>
          <a:xfrm>
            <a:off x="442061" y="1199015"/>
            <a:ext cx="4321826" cy="262597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5B68FE-8C54-1D07-80CB-28668782693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162" t="19499" r="6616" b="8482"/>
          <a:stretch>
            <a:fillRect/>
          </a:stretch>
        </p:blipFill>
        <p:spPr>
          <a:xfrm>
            <a:off x="4849914" y="2524882"/>
            <a:ext cx="3866297" cy="2409629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8145862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MS PGothic"/>
        <a:font script="Hang" typeface="HY중고딕"/>
        <a:font script="Hans" typeface="隶书"/>
        <a:font script="Hant" typeface="Microsoft JhengHei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SimSun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518</Words>
  <Application>Microsoft Office PowerPoint</Application>
  <PresentationFormat>On-screen Show (16:9)</PresentationFormat>
  <Paragraphs>90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굴림</vt:lpstr>
      <vt:lpstr>MS PGothic</vt:lpstr>
      <vt:lpstr>System Font Regular</vt:lpstr>
      <vt:lpstr>Arial</vt:lpstr>
      <vt:lpstr>Calibri</vt:lpstr>
      <vt:lpstr>Constantia</vt:lpstr>
      <vt:lpstr>Times New Roman</vt:lpstr>
      <vt:lpstr>Wingdings</vt:lpstr>
      <vt:lpstr>Wingdings 2</vt:lpstr>
      <vt:lpstr>Flow</vt:lpstr>
      <vt:lpstr> 재미한인과학기술자협회 Korean-American Scientists and Engineers Association (KSEA)  2026. 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KSEA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Ji-Hae Yea</dc:creator>
  <cp:lastModifiedBy>Euna Yoon</cp:lastModifiedBy>
  <cp:revision>402</cp:revision>
  <dcterms:created xsi:type="dcterms:W3CDTF">2003-04-17T06:43:55Z</dcterms:created>
  <dcterms:modified xsi:type="dcterms:W3CDTF">2026-09-24T21:53:19Z</dcterms:modified>
  <cp:version/>
</cp:coreProperties>
</file>